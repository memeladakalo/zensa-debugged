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0"/>
            <a:ext cx="4437583" cy="5212080"/>
          </a:xfrm>
          <a:prstGeom prst="ellipse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74320"/>
            <a:ext cx="3566160" cy="3566160"/>
          </a:xfrm>
          <a:prstGeom prst="ellipse">
            <a:avLst/>
          </a:prstGeom>
          <a:solidFill>
            <a:srgbClr val="32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nsa_logo_for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627632"/>
            <a:ext cx="57607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2888"/>
            <a:ext cx="5943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300" b="1">
                <a:solidFill>
                  <a:srgbClr val="C4B1FF"/>
                </a:solidFill>
                <a:latin typeface="Aptos"/>
              </a:defRPr>
            </a:pPr>
            <a:r>
              <a:t>Calm, focused studying.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5394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BBB5CF"/>
                </a:solidFill>
                <a:latin typeface="Aptos"/>
              </a:defRPr>
            </a:pPr>
            <a:r>
              <a:t>A student-first Android study companion for clearer priorities, calmer routines, and steady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187952"/>
            <a:ext cx="1508760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38244"/>
            <a:ext cx="13624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APP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BBB5CF"/>
                </a:solidFill>
                <a:latin typeface="Aptos"/>
              </a:defRPr>
            </a:pPr>
            <a:r>
              <a:t>Project presentation • Kotlin / 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34440"/>
            <a:ext cx="2423160" cy="480060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22207" y="1362456"/>
            <a:ext cx="2203704" cy="454456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57512" y="1307592"/>
            <a:ext cx="533095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5" y="1435608"/>
            <a:ext cx="19842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655064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20240"/>
            <a:ext cx="1965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A calmer study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31935" y="2276856"/>
            <a:ext cx="1984248" cy="667512"/>
          </a:xfrm>
          <a:prstGeom prst="roundRect">
            <a:avLst/>
          </a:prstGeom>
          <a:solidFill>
            <a:srgbClr val="E7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663" y="2368296"/>
            <a:ext cx="17922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5E439D"/>
                </a:solidFill>
                <a:latin typeface="Aptos"/>
              </a:defRPr>
            </a:pPr>
            <a:r>
              <a:t>TODAY'S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3" y="2596896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2D2447"/>
                </a:solidFill>
                <a:latin typeface="Aptos"/>
              </a:defRPr>
            </a:pPr>
            <a:r>
              <a:t>Finish database ERD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3" y="2807208"/>
            <a:ext cx="179222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Due tomorrow • High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3127248"/>
            <a:ext cx="1947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69637F"/>
                </a:solidFill>
                <a:latin typeface="Aptos"/>
              </a:defRPr>
            </a:pPr>
            <a:r>
              <a:t>UP 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1935" y="3401568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23376" y="352044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5" y="3474720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Research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5" y="3611880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31935" y="3840480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23376" y="3959352"/>
            <a:ext cx="109728" cy="109728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6255" y="3913632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Read lecture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4050792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31935" y="4279392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23376" y="4398264"/>
            <a:ext cx="109728" cy="109728"/>
          </a:xfrm>
          <a:prstGeom prst="ellipse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6255" y="4352544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Essay outline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489704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5" y="4837176"/>
            <a:ext cx="19842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500" b="1">
                <a:solidFill>
                  <a:srgbClr val="69637F"/>
                </a:solidFill>
                <a:latin typeface="Aptos"/>
              </a:defRPr>
            </a:pPr>
            <a:r>
              <a:t>Home     Modules     Notes    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01 /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Students juggle too many moving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Zensa brings the everyday study workflow into one calmer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429000" cy="19659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82296" cy="1965960"/>
          </a:xfrm>
          <a:prstGeom prst="roundRect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31136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Scattered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2990088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Tasks in one place, notes in another, reminders elsewhere.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57400"/>
            <a:ext cx="3429000" cy="19659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2057400"/>
            <a:ext cx="82296" cy="1965960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231136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Deadline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2990088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When everything feels urgent, it is hard to choose the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057400"/>
            <a:ext cx="3429000" cy="19659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2057400"/>
            <a:ext cx="82296" cy="1965960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231136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Lost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679192"/>
            <a:ext cx="2990088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Study time and small wins can be difficult to track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058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C4B1FF"/>
                </a:solidFill>
                <a:latin typeface="Aptos"/>
              </a:defRPr>
            </a:pPr>
            <a:r>
              <a:t>The opportunity: make the next useful action obvious.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02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Zen + Sense = Zensa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name pairs calm with awareness: a study companion that helps students make intentional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2011680" cy="2011680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1737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ZEN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194560"/>
            <a:ext cx="2011680" cy="2011680"/>
          </a:xfrm>
          <a:prstGeom prst="ellipse">
            <a:avLst/>
          </a:prstGeom>
          <a:solidFill>
            <a:srgbClr val="3F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834640"/>
            <a:ext cx="1737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871216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C4B1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0760" y="2743200"/>
            <a:ext cx="594360" cy="640080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2286000"/>
            <a:ext cx="3840480" cy="178308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633472"/>
            <a:ext cx="3291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200400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C4B1FF"/>
                </a:solidFill>
                <a:latin typeface="Aptos"/>
              </a:defRPr>
            </a:pPr>
            <a:r>
              <a:t>Calm, focused studying.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983479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892040"/>
            <a:ext cx="967435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Calm: gentle visual design and fewer distractions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422392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5330952"/>
            <a:ext cx="967435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Sense: clear priorities, deadlines, and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03 / 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Four pillars, one study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Designed around the student's day, from planning to reflection.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2651760" cy="22860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82296" cy="2286000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8541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33472"/>
            <a:ext cx="2212848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Modules, assignments, subtasks, and deadlines.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011680"/>
            <a:ext cx="2651760" cy="22860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2011680"/>
            <a:ext cx="82296" cy="2286000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8541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633472"/>
            <a:ext cx="2212848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Notes connected to academic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011680"/>
            <a:ext cx="2651760" cy="22860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2011680"/>
            <a:ext cx="82296" cy="2286000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18541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633472"/>
            <a:ext cx="2212848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A dedicated Zen Timer for study sessions.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2011680"/>
            <a:ext cx="2331720" cy="22860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62288" y="2011680"/>
            <a:ext cx="82296" cy="2286000"/>
          </a:xfrm>
          <a:prstGeom prst="roundRect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185416"/>
            <a:ext cx="19202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633472"/>
            <a:ext cx="1892807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Progress, streaks, points, and badges.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C4B1FF"/>
                </a:solidFill>
                <a:latin typeface="Aptos"/>
              </a:defRPr>
            </a:pPr>
            <a:r>
              <a:t>A single place to organize work and build sustainable study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04 / PRODUCT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The dashboard: clarity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proposed home screen puts today's priorities and next steps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423160" cy="461772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956816"/>
            <a:ext cx="2203704" cy="436168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59432" y="1901952"/>
            <a:ext cx="533095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029968"/>
            <a:ext cx="19842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9424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1965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A calmer study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856" y="2871216"/>
            <a:ext cx="1984248" cy="667512"/>
          </a:xfrm>
          <a:prstGeom prst="roundRect">
            <a:avLst/>
          </a:prstGeom>
          <a:solidFill>
            <a:srgbClr val="E7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962656"/>
            <a:ext cx="17922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5E439D"/>
                </a:solidFill>
                <a:latin typeface="Aptos"/>
              </a:defRPr>
            </a:pPr>
            <a:r>
              <a:t>TODAY'S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191256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2D2447"/>
                </a:solidFill>
                <a:latin typeface="Aptos"/>
              </a:defRPr>
            </a:pPr>
            <a:r>
              <a:t>Finish database ERD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401568"/>
            <a:ext cx="179222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Due tomorrow • High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721608"/>
            <a:ext cx="1947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69637F"/>
                </a:solidFill>
                <a:latin typeface="Aptos"/>
              </a:defRPr>
            </a:pPr>
            <a:r>
              <a:t>UP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" y="3995928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25296" y="411480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4069080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Research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206240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3856" y="4434840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25296" y="4553712"/>
            <a:ext cx="109728" cy="109728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8176" y="4507992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Read lecture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4645152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3856" y="4873752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25296" y="4992624"/>
            <a:ext cx="109728" cy="109728"/>
          </a:xfrm>
          <a:prstGeom prst="ellipse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4946904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Essay outline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5084064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5431536"/>
            <a:ext cx="19842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500" b="1">
                <a:solidFill>
                  <a:srgbClr val="69637F"/>
                </a:solidFill>
                <a:latin typeface="Aptos"/>
              </a:defRPr>
            </a:pPr>
            <a:r>
              <a:t>Home     Modules     Notes     Focus</a:t>
            </a:r>
          </a:p>
        </p:txBody>
      </p:sp>
      <p:sp>
        <p:nvSpPr>
          <p:cNvPr id="30" name="Oval 29"/>
          <p:cNvSpPr/>
          <p:nvPr/>
        </p:nvSpPr>
        <p:spPr>
          <a:xfrm>
            <a:off x="4023360" y="2331720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2240280"/>
            <a:ext cx="6839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1EDFF"/>
                </a:solidFill>
                <a:latin typeface="Aptos"/>
              </a:defRPr>
            </a:pPr>
            <a:r>
              <a:t>Today's focus task and immediate deadlines</a:t>
            </a:r>
          </a:p>
        </p:txBody>
      </p:sp>
      <p:sp>
        <p:nvSpPr>
          <p:cNvPr id="32" name="Oval 31"/>
          <p:cNvSpPr/>
          <p:nvPr/>
        </p:nvSpPr>
        <p:spPr>
          <a:xfrm>
            <a:off x="4023360" y="2990088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4528" y="2898648"/>
            <a:ext cx="6839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1EDFF"/>
                </a:solidFill>
                <a:latin typeface="Aptos"/>
              </a:defRPr>
            </a:pPr>
            <a:r>
              <a:t>A short, scannable list of what's next</a:t>
            </a:r>
          </a:p>
        </p:txBody>
      </p:sp>
      <p:sp>
        <p:nvSpPr>
          <p:cNvPr id="34" name="Oval 33"/>
          <p:cNvSpPr/>
          <p:nvPr/>
        </p:nvSpPr>
        <p:spPr>
          <a:xfrm>
            <a:off x="4023360" y="3648456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24528" y="3557016"/>
            <a:ext cx="6839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1EDFF"/>
                </a:solidFill>
                <a:latin typeface="Aptos"/>
              </a:defRPr>
            </a:pPr>
            <a:r>
              <a:t>Progress and streak cues that encourage consistency</a:t>
            </a:r>
          </a:p>
        </p:txBody>
      </p:sp>
      <p:sp>
        <p:nvSpPr>
          <p:cNvPr id="36" name="Oval 35"/>
          <p:cNvSpPr/>
          <p:nvPr/>
        </p:nvSpPr>
        <p:spPr>
          <a:xfrm>
            <a:off x="4023360" y="4306824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4215384"/>
            <a:ext cx="683971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1EDFF"/>
                </a:solidFill>
                <a:latin typeface="Aptos"/>
              </a:defRPr>
            </a:pPr>
            <a:r>
              <a:t>Quick navigation to modules, notes, and focus sessions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80" y="5349240"/>
            <a:ext cx="1874519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42232" y="5399531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CALM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05 / PLAN THE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Turn big assignments into manageable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Priority and progress help students focus on the work that matters most.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423160" cy="461772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8407" y="1956816"/>
            <a:ext cx="2203704" cy="436168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13712" y="1901952"/>
            <a:ext cx="533095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029968"/>
            <a:ext cx="19842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2249424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79" y="2514600"/>
            <a:ext cx="1965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Your assignments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8136" y="2871216"/>
            <a:ext cx="19842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5" y="2962656"/>
            <a:ext cx="18013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9575" y="3163824"/>
            <a:ext cx="566928" cy="310896"/>
          </a:xfrm>
          <a:prstGeom prst="roundRect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214116"/>
            <a:ext cx="42062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27213E"/>
                </a:solidFill>
                <a:latin typeface="Aptos"/>
              </a:defRPr>
            </a:pPr>
            <a:r>
              <a:t>URGENT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6" y="3483864"/>
            <a:ext cx="19842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5" y="3575304"/>
            <a:ext cx="18013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Research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9575" y="3776472"/>
            <a:ext cx="566928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3826763"/>
            <a:ext cx="42062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8136" y="4096512"/>
            <a:ext cx="19842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5" y="4187952"/>
            <a:ext cx="18013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Reading summary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9575" y="4389120"/>
            <a:ext cx="566928" cy="310896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4439412"/>
            <a:ext cx="42062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27213E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" y="4709160"/>
            <a:ext cx="19842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5" y="4800600"/>
            <a:ext cx="18013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Revision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5" y="5001768"/>
            <a:ext cx="566928" cy="310896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5052060"/>
            <a:ext cx="42062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27213E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5449824"/>
            <a:ext cx="19842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700" b="1">
                <a:solidFill>
                  <a:srgbClr val="4F348F"/>
                </a:solidFill>
                <a:latin typeface="Aptos"/>
              </a:defRPr>
            </a:pPr>
            <a:r>
              <a:t>+  Add assignment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1965960"/>
            <a:ext cx="3246120" cy="141732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86200" y="1965960"/>
            <a:ext cx="82296" cy="1417320"/>
          </a:xfrm>
          <a:prstGeom prst="roundRect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2139696"/>
            <a:ext cx="28346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587752"/>
            <a:ext cx="28072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Low • Medium • High • Urgent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1965960"/>
            <a:ext cx="3520440" cy="141732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2360" y="1965960"/>
            <a:ext cx="82296" cy="1417320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139696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Break it 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587752"/>
            <a:ext cx="308152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Subtasks make large deliverables feel actionable.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86200" y="3794760"/>
            <a:ext cx="3246120" cy="141732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86200" y="3794760"/>
            <a:ext cx="82296" cy="1417320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3968496"/>
            <a:ext cx="28346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Stay in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416552"/>
            <a:ext cx="28072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Create, edit, filter, sort, and complete assignments.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3794760"/>
            <a:ext cx="3520440" cy="141732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52360" y="3794760"/>
            <a:ext cx="82296" cy="1417320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3968496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Smart Focus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416552"/>
            <a:ext cx="308152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Rule-based suggestions use due date, priority, and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06 / ORGANIZE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Keep modules and notes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Academic information is easier to revisit when it stays in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377440" cy="461772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56816"/>
            <a:ext cx="2157984" cy="436168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0161" y="1901952"/>
            <a:ext cx="523036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029968"/>
            <a:ext cx="19385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9424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Your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6" y="2871216"/>
            <a:ext cx="1938528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33856" y="3008376"/>
            <a:ext cx="109728" cy="384048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6"/>
            <a:ext cx="1609344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27832"/>
            <a:ext cx="1609344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CS101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" y="3648456"/>
            <a:ext cx="1938528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33856" y="3785616"/>
            <a:ext cx="109728" cy="384048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785616"/>
            <a:ext cx="1609344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Database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05072"/>
            <a:ext cx="1609344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DBS202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" y="4425696"/>
            <a:ext cx="1938528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3856" y="4562856"/>
            <a:ext cx="109728" cy="384048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562856"/>
            <a:ext cx="1609344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Software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82312"/>
            <a:ext cx="1609344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SWE301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1828800"/>
            <a:ext cx="2377440" cy="461772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38728" y="1956816"/>
            <a:ext cx="2157984" cy="436168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6201" y="1901952"/>
            <a:ext cx="523036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8456" y="2029968"/>
            <a:ext cx="19385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249424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514600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Your study notes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48456" y="2871216"/>
            <a:ext cx="19385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2962656"/>
            <a:ext cx="175564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9896" y="3154680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Algorithms • 5 key points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48456" y="3483864"/>
            <a:ext cx="19385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9896" y="3575304"/>
            <a:ext cx="175564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Exam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9896" y="3767328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Definitions and examples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48456" y="4096512"/>
            <a:ext cx="19385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9896" y="4187952"/>
            <a:ext cx="175564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Project ideas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379976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Questions to explore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48456" y="4709160"/>
            <a:ext cx="19385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9896" y="4800600"/>
            <a:ext cx="1755648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27213E"/>
                </a:solidFill>
                <a:latin typeface="Aptos"/>
              </a:defRPr>
            </a:pPr>
            <a:r>
              <a:t>Reading 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9896" y="4992624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Sources for next week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31336" y="5431536"/>
            <a:ext cx="1572768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04488" y="5481827"/>
            <a:ext cx="14264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+ NEW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148840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C4B1FF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606040"/>
            <a:ext cx="46634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1EDFF"/>
                </a:solidFill>
                <a:latin typeface="Aptos"/>
              </a:defRPr>
            </a:pPr>
            <a:r>
              <a:t>Organize subjects with module codes, descriptions, and optional colours.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657600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97E7CF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46634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1EDFF"/>
                </a:solidFill>
                <a:latin typeface="Aptos"/>
              </a:defRPr>
            </a:pPr>
            <a:r>
              <a:t>Capture quick explanations, revision points, and ideas, with optional attachments planned for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07 / FOCUS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Make time for deep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Zen Timer supports intentional study blocks and records completed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83080"/>
            <a:ext cx="2651760" cy="470916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7007" y="1911095"/>
            <a:ext cx="2432304" cy="445312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31466" y="1856231"/>
            <a:ext cx="583387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1984248"/>
            <a:ext cx="22128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79" y="2203703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79" y="2468879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Find your focus</a:t>
            </a:r>
          </a:p>
        </p:txBody>
      </p:sp>
      <p:sp>
        <p:nvSpPr>
          <p:cNvPr id="12" name="Oval 11"/>
          <p:cNvSpPr/>
          <p:nvPr/>
        </p:nvSpPr>
        <p:spPr>
          <a:xfrm>
            <a:off x="1435607" y="2935224"/>
            <a:ext cx="1975104" cy="1481328"/>
          </a:xfrm>
          <a:prstGeom prst="ellipse">
            <a:avLst/>
          </a:prstGeom>
          <a:solidFill>
            <a:srgbClr val="E7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63624" y="3063239"/>
            <a:ext cx="1719072" cy="1225296"/>
          </a:xfrm>
          <a:prstGeom prst="ellipse">
            <a:avLst/>
          </a:prstGeom>
          <a:solidFill>
            <a:srgbClr val="F8F6FF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7048" y="3483863"/>
            <a:ext cx="179222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4F348F"/>
                </a:solidFill>
                <a:latin typeface="Aptos"/>
              </a:defRPr>
            </a:pPr>
            <a:r>
              <a:t>25:00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4636008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27213E"/>
                </a:solidFill>
                <a:latin typeface="Aptos"/>
              </a:defRPr>
            </a:pPr>
            <a:r>
              <a:t>One session. One goal.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7048" y="5020056"/>
            <a:ext cx="1792224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7034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START SESSION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2103120"/>
            <a:ext cx="1965960" cy="1965960"/>
          </a:xfrm>
          <a:prstGeom prst="ellipse">
            <a:avLst/>
          </a:prstGeom>
          <a:solidFill>
            <a:srgbClr val="39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82312" y="2313432"/>
            <a:ext cx="1545336" cy="1545336"/>
          </a:xfrm>
          <a:prstGeom prst="ellipse">
            <a:avLst/>
          </a:prstGeom>
          <a:solidFill>
            <a:srgbClr val="141126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834640"/>
            <a:ext cx="1508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31720"/>
            <a:ext cx="3931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C4B1FF"/>
                </a:solidFill>
                <a:latin typeface="Aptos"/>
              </a:defRPr>
            </a:pPr>
            <a:r>
              <a:t>A SIMPLE SESSION FLOW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2971800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880360"/>
            <a:ext cx="3730752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Choose a study duration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3502152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3410712"/>
            <a:ext cx="3730752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Start, pause, resume, or stop</a:t>
            </a:r>
          </a:p>
        </p:txBody>
      </p:sp>
      <p:sp>
        <p:nvSpPr>
          <p:cNvPr id="26" name="Oval 25"/>
          <p:cNvSpPr/>
          <p:nvPr/>
        </p:nvSpPr>
        <p:spPr>
          <a:xfrm>
            <a:off x="7086600" y="4032503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3941063"/>
            <a:ext cx="3730752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Link the session to a module</a:t>
            </a:r>
          </a:p>
        </p:txBody>
      </p:sp>
      <p:sp>
        <p:nvSpPr>
          <p:cNvPr id="28" name="Oval 27"/>
          <p:cNvSpPr/>
          <p:nvPr/>
        </p:nvSpPr>
        <p:spPr>
          <a:xfrm>
            <a:off x="7086600" y="4562855"/>
            <a:ext cx="82296" cy="82296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4471416"/>
            <a:ext cx="3730752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1EDFF"/>
                </a:solidFill>
                <a:latin typeface="Aptos"/>
              </a:defRPr>
            </a:pPr>
            <a:r>
              <a:t>Log completed time for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6309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97E7CF"/>
                </a:solidFill>
                <a:latin typeface="Aptos"/>
              </a:defRPr>
            </a:pPr>
            <a:r>
              <a:t>Small, repeatable sessions beat vague intentions.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08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Celebrate progress, not perfection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Light gamification is designed to encourage consistency—not distract from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18288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82296" cy="1828800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76856"/>
            <a:ext cx="21488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STUDY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212140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Earn points for meaningful study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560320" cy="18288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82296" cy="1828800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76856"/>
            <a:ext cx="21488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STREAKS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24912"/>
            <a:ext cx="212140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See the habit taking shape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560320" cy="18288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82296" cy="1828800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76856"/>
            <a:ext cx="21488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24912"/>
            <a:ext cx="212140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Mark milestones and completed goals.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103120"/>
            <a:ext cx="2560320" cy="182880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2103120"/>
            <a:ext cx="82296" cy="1828800"/>
          </a:xfrm>
          <a:prstGeom prst="roundRect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276856"/>
            <a:ext cx="21488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724912"/>
            <a:ext cx="212140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Track sessions, subtasks, and assignments.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103327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F1EDFF"/>
                </a:solidFill>
                <a:latin typeface="Aptos"/>
              </a:defRPr>
            </a:pPr>
            <a:r>
              <a:t>The student stays in control: achievements are a supportive layer, not the main event.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09 /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 layered Android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planning document proposes a maintainable structure that separates UI, data operations, and backend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148840" cy="1417320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929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ANDROID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246120"/>
            <a:ext cx="1892807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1EDFF"/>
                </a:solidFill>
                <a:latin typeface="Aptos"/>
              </a:defRPr>
            </a:pPr>
            <a:r>
              <a:t>Kotlin • Jetpack Compose</a:t>
            </a:r>
          </a:p>
        </p:txBody>
      </p:sp>
      <p:sp>
        <p:nvSpPr>
          <p:cNvPr id="9" name="Chevron 8"/>
          <p:cNvSpPr/>
          <p:nvPr/>
        </p:nvSpPr>
        <p:spPr>
          <a:xfrm>
            <a:off x="2999232" y="2907792"/>
            <a:ext cx="411480" cy="438912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468880"/>
            <a:ext cx="2148840" cy="1417320"/>
          </a:xfrm>
          <a:prstGeom prst="roundRect">
            <a:avLst/>
          </a:prstGeom>
          <a:solidFill>
            <a:srgbClr val="4F3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761488"/>
            <a:ext cx="1929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VIEWMODEL +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246120"/>
            <a:ext cx="1892807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1EDFF"/>
                </a:solidFill>
                <a:latin typeface="Aptos"/>
              </a:defRPr>
            </a:pPr>
            <a:r>
              <a:t>State • business/data flow</a:t>
            </a:r>
          </a:p>
        </p:txBody>
      </p:sp>
      <p:sp>
        <p:nvSpPr>
          <p:cNvPr id="13" name="Chevron 12"/>
          <p:cNvSpPr/>
          <p:nvPr/>
        </p:nvSpPr>
        <p:spPr>
          <a:xfrm>
            <a:off x="5879592" y="2907792"/>
            <a:ext cx="411480" cy="438912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468880"/>
            <a:ext cx="2148840" cy="1417320"/>
          </a:xfrm>
          <a:prstGeom prst="roundRect">
            <a:avLst/>
          </a:prstGeom>
          <a:solidFill>
            <a:srgbClr val="425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761488"/>
            <a:ext cx="1929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5" y="3246120"/>
            <a:ext cx="1892807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1EDFF"/>
                </a:solidFill>
                <a:latin typeface="Aptos"/>
              </a:defRPr>
            </a:pPr>
            <a:r>
              <a:t>Room • Retrofit • DataStore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2907792"/>
            <a:ext cx="411480" cy="438912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600" y="2468880"/>
            <a:ext cx="2148840" cy="1417320"/>
          </a:xfrm>
          <a:prstGeom prst="roundRect">
            <a:avLst/>
          </a:prstGeom>
          <a:solidFill>
            <a:srgbClr val="39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761488"/>
            <a:ext cx="192938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3246120"/>
            <a:ext cx="1892807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1EDFF"/>
                </a:solidFill>
                <a:latin typeface="Aptos"/>
              </a:defRPr>
            </a:pPr>
            <a:r>
              <a:t>REST API •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C4B1FF"/>
                </a:solidFill>
                <a:latin typeface="Aptos"/>
              </a:defRPr>
            </a:pPr>
            <a:r>
              <a:t>The Android app communicates with the server through the API—not directly with the database.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96128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Stack proposed in the design: Kotlin • Compose • MVVM/Repository • Room • Retrofit • Spring Boot • JWT • MySQL • Azure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10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Useful even when connectivity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design proposes local storage first for selected workflows, then sync when the network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31720"/>
            <a:ext cx="658368" cy="65836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721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743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SAVE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27432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Room stores selected tasks, notes, and sessions.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331720"/>
            <a:ext cx="658368" cy="658368"/>
          </a:xfrm>
          <a:prstGeom prst="ellipse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53288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721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46120"/>
            <a:ext cx="2743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QUEUE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703320"/>
            <a:ext cx="27432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Pending updates wait for a connection.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2331720"/>
            <a:ext cx="658368" cy="658368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53288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721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46120"/>
            <a:ext cx="2743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SYNC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03320"/>
            <a:ext cx="27432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WorkManager can retry background sync.</a:t>
            </a:r>
          </a:p>
        </p:txBody>
      </p:sp>
      <p:sp>
        <p:nvSpPr>
          <p:cNvPr id="18" name="Chevron 17"/>
          <p:cNvSpPr/>
          <p:nvPr/>
        </p:nvSpPr>
        <p:spPr>
          <a:xfrm>
            <a:off x="3337560" y="2487168"/>
            <a:ext cx="502920" cy="347472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6812280" y="2487168"/>
            <a:ext cx="502920" cy="347472"/>
          </a:xfrm>
          <a:prstGeom prst="chevron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9784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C4B1FF"/>
                </a:solidFill>
                <a:latin typeface="Aptos"/>
              </a:defRPr>
            </a:pPr>
            <a:r>
              <a:t>Goal: protect the student's momentum when the internet is unreliable.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11 / QUALITY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Trust is part of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Security, validation, and testing are core requirements—not optional extras.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37560" cy="15087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82296" cy="1508760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969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289864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HTTPS/TLS, token-based sessions, and secure password hashing on the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337560" cy="15087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82296" cy="1508760"/>
          </a:xfrm>
          <a:prstGeom prst="roundRect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3969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87752"/>
            <a:ext cx="289864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Check required fields and dates; present helpful, human-readable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337560" cy="1508760"/>
          </a:xfrm>
          <a:prstGeom prst="roundRect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82296" cy="1508760"/>
          </a:xfrm>
          <a:prstGeom prst="roundRect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3969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87752"/>
            <a:ext cx="289864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supplied project archive includes test files for validation, API service, and achievement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1EDFF"/>
                </a:solidFill>
                <a:latin typeface="Aptos"/>
              </a:defRPr>
            </a:pPr>
            <a:r>
              <a:t>Implementation note: planned capabilities should be verified in the running app before presenting them as 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5166360"/>
            <a:ext cx="2926080" cy="310896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5216652"/>
            <a:ext cx="27797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DEMONSTRATE • VERIFY • 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C4B1FF"/>
                </a:solidFill>
                <a:latin typeface="Aptos"/>
              </a:defRPr>
            </a:pPr>
            <a:r>
              <a:t>12 /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 practical path from design to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BBB5CF"/>
                </a:solidFill>
                <a:latin typeface="Aptos"/>
              </a:defRPr>
            </a:pPr>
            <a:r>
              <a:t>The planning document outlines a 12-week sequence of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BBB5C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2834640"/>
            <a:ext cx="502920" cy="502920"/>
          </a:xfrm>
          <a:prstGeom prst="ellipse">
            <a:avLst/>
          </a:prstGeom>
          <a:solidFill>
            <a:srgbClr val="C4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Design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3360" y="2834640"/>
            <a:ext cx="502920" cy="502920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60" y="2834640"/>
            <a:ext cx="502920" cy="502920"/>
          </a:xfrm>
          <a:prstGeom prst="ellipse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2834640"/>
            <a:ext cx="502920" cy="502920"/>
          </a:xfrm>
          <a:prstGeom prst="ellipse">
            <a:avLst/>
          </a:prstGeom>
          <a:solidFill>
            <a:srgbClr val="FF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API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23960" y="2834640"/>
            <a:ext cx="502920" cy="502920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Offline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5168" y="3054096"/>
            <a:ext cx="1060704" cy="36576"/>
          </a:xfrm>
          <a:prstGeom prst="rect">
            <a:avLst/>
          </a:prstGeom>
          <a:solidFill>
            <a:srgbClr val="5B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0" y="2834640"/>
            <a:ext cx="502920" cy="502920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7856" y="3493008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3867912"/>
            <a:ext cx="12984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BBB5CF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C4B1FF"/>
                </a:solidFill>
                <a:latin typeface="Aptos"/>
              </a:defRPr>
            </a:pPr>
            <a:r>
              <a:t>Future extensions: SSO • push notifications • English / isiZulu / Sesotho localization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0"/>
            <a:ext cx="4803343" cy="5760720"/>
          </a:xfrm>
          <a:prstGeom prst="ellipse">
            <a:avLst/>
          </a:prstGeom>
          <a:solidFill>
            <a:srgbClr val="1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457200"/>
            <a:ext cx="3749039" cy="3749039"/>
          </a:xfrm>
          <a:prstGeom prst="ellipse">
            <a:avLst/>
          </a:prstGeom>
          <a:solidFill>
            <a:srgbClr val="3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nsa_logo_for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49808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783080"/>
            <a:ext cx="5943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 calmer way to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51760"/>
            <a:ext cx="58521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0">
                <a:solidFill>
                  <a:srgbClr val="C4B1FF"/>
                </a:solidFill>
                <a:latin typeface="Aptos"/>
              </a:defRPr>
            </a:pPr>
            <a:r>
              <a:t>Zensa brings planning, notes, focus, and progress into one student-first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5303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97E7C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BB5CF"/>
                </a:solidFill>
                <a:latin typeface="Aptos"/>
              </a:defRPr>
            </a:pPr>
            <a:r>
              <a:t>Zensa • Calm, focused studying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2423160" cy="4800600"/>
          </a:xfrm>
          <a:prstGeom prst="roundRect">
            <a:avLst/>
          </a:prstGeom>
          <a:solidFill>
            <a:srgbClr val="07070C"/>
          </a:solidFill>
          <a:ln>
            <a:solidFill>
              <a:srgbClr val="5A5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22207" y="1316736"/>
            <a:ext cx="2203704" cy="4544568"/>
          </a:xfrm>
          <a:prstGeom prst="round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57512" y="1261872"/>
            <a:ext cx="533095" cy="73152"/>
          </a:xfrm>
          <a:prstGeom prst="round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389888"/>
            <a:ext cx="19842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0">
                <a:solidFill>
                  <a:srgbClr val="69637F"/>
                </a:solidFill>
                <a:latin typeface="Aptos"/>
              </a:defRPr>
            </a:pPr>
            <a:r>
              <a:t>9:41                                     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609344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4F348F"/>
                </a:solidFill>
                <a:latin typeface="Aptos"/>
              </a:defRPr>
            </a:pPr>
            <a:r>
              <a:t>zensa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74519"/>
            <a:ext cx="1965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69637F"/>
                </a:solidFill>
                <a:latin typeface="Aptos"/>
              </a:defRPr>
            </a:pPr>
            <a:r>
              <a:t>A calmer study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1935" y="2231136"/>
            <a:ext cx="1984248" cy="667512"/>
          </a:xfrm>
          <a:prstGeom prst="roundRect">
            <a:avLst/>
          </a:prstGeom>
          <a:solidFill>
            <a:srgbClr val="E7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41663" y="2322576"/>
            <a:ext cx="17922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5E439D"/>
                </a:solidFill>
                <a:latin typeface="Aptos"/>
              </a:defRPr>
            </a:pPr>
            <a:r>
              <a:t>TODAY'S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3" y="2551176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2D2447"/>
                </a:solidFill>
                <a:latin typeface="Aptos"/>
              </a:defRPr>
            </a:pPr>
            <a:r>
              <a:t>Finish database ERD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2761488"/>
            <a:ext cx="179222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Due tomorrow • High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3081528"/>
            <a:ext cx="1947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700" b="1">
                <a:solidFill>
                  <a:srgbClr val="69637F"/>
                </a:solidFill>
                <a:latin typeface="Aptos"/>
              </a:defRPr>
            </a:pPr>
            <a:r>
              <a:t>UP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1935" y="3355848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347472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6255" y="3429000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Research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5" y="3566160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5" y="3794760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23376" y="3913632"/>
            <a:ext cx="109728" cy="109728"/>
          </a:xfrm>
          <a:prstGeom prst="ellipse">
            <a:avLst/>
          </a:prstGeom>
          <a:solidFill>
            <a:srgbClr val="97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5" y="3867912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Read lecture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5" y="4005072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1935" y="4233672"/>
            <a:ext cx="1984248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23376" y="4352544"/>
            <a:ext cx="109728" cy="109728"/>
          </a:xfrm>
          <a:prstGeom prst="ellipse">
            <a:avLst/>
          </a:prstGeom>
          <a:solidFill>
            <a:srgbClr val="FF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5" y="4306824"/>
            <a:ext cx="15179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600" b="1">
                <a:solidFill>
                  <a:srgbClr val="27213E"/>
                </a:solidFill>
                <a:latin typeface="Aptos"/>
              </a:defRPr>
            </a:pPr>
            <a:r>
              <a:t>Essay outline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4443984"/>
            <a:ext cx="1517904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500" b="0">
                <a:solidFill>
                  <a:srgbClr val="69637F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5" y="4791456"/>
            <a:ext cx="19842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500" b="1">
                <a:solidFill>
                  <a:srgbClr val="69637F"/>
                </a:solidFill>
                <a:latin typeface="Aptos"/>
              </a:defRPr>
            </a:pPr>
            <a:r>
              <a:t>Home     Modules     Notes     Focus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